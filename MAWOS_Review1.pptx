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MAWOS</a:t>
            </a:r>
          </a:p>
          <a:p>
            <a:pPr>
              <a:defRPr sz="2200" b="0">
                <a:solidFill>
                  <a:srgbClr val="C9DAE8"/>
                </a:solidFill>
              </a:defRPr>
            </a:pPr>
            <a:r>
              <a:t>An Event-Driven Multi-Agent Workflow Orchestration Engine for Universities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34840"/>
            <a:ext cx="1033272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8EEF3"/>
                </a:solidFill>
              </a:defRPr>
            </a:pPr>
            <a:r>
              <a:rPr dirty="0"/>
              <a:t>Review-1 Presentation — Phase-wise Methodology, Architecture &amp; Implementation</a:t>
            </a:r>
          </a:p>
          <a:p>
            <a:pPr>
              <a:spcAft>
                <a:spcPts val="600"/>
              </a:spcAft>
              <a:defRPr sz="1500">
                <a:solidFill>
                  <a:srgbClr val="E8EEF3"/>
                </a:solidFill>
              </a:defRPr>
            </a:pPr>
            <a:r>
              <a:rPr dirty="0"/>
              <a:t>Department of Artificial Intelligence &amp; Machine Learning, MITE</a:t>
            </a:r>
          </a:p>
          <a:p>
            <a:pPr>
              <a:spcAft>
                <a:spcPts val="600"/>
              </a:spcAft>
              <a:defRPr sz="1500">
                <a:solidFill>
                  <a:srgbClr val="E8EEF3"/>
                </a:solidFill>
              </a:defRPr>
            </a:pPr>
            <a:r>
              <a:rPr dirty="0"/>
              <a:t>Group 12  ·  Guide: </a:t>
            </a:r>
            <a:r>
              <a:rPr lang="en-IN" dirty="0"/>
              <a:t>Manjunath Prasad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E8EEF3"/>
                </a:solidFill>
              </a:defRPr>
            </a:pPr>
            <a:r>
              <a:rPr dirty="0"/>
              <a:t>Team USNs: 4MT23AI037  ·  4MT23AI038  ·  4MT23AI040  ·  4MT23AI049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9CCDD"/>
                </a:solidFill>
              </a:defRPr>
            </a:pPr>
            <a:r>
              <a:t>MOTIVATION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22222"/>
                </a:solidFill>
              </a:defRPr>
            </a:pPr>
            <a:r>
              <a:t>•  University workflows — attendance → hall-ticket eligibility → scholarship → placement → notification — are handled as siloed, manually re-triggered modules in a typical college ERP</a:t>
            </a:r>
          </a:p>
          <a:p>
            <a:pPr>
              <a:spcAft>
                <a:spcPts val="1200"/>
              </a:spcAft>
              <a:defRPr sz="1700">
                <a:solidFill>
                  <a:srgbClr val="222222"/>
                </a:solidFill>
              </a:defRPr>
            </a:pPr>
            <a:r>
              <a:t>•  A single upstream event (e.g. an attendance upload) does not automatically propagate its downstream consequences — staff must re-check and re-trigger each dependent workflow by hand</a:t>
            </a:r>
          </a:p>
          <a:p>
            <a:pPr>
              <a:spcAft>
                <a:spcPts val="1200"/>
              </a:spcAft>
              <a:defRPr sz="1700">
                <a:solidFill>
                  <a:srgbClr val="222222"/>
                </a:solidFill>
              </a:defRPr>
            </a:pPr>
            <a:r>
              <a:t>•  Objective: design and empirically evaluate an event-driven multi-agent orchestration engine that propagates institutional workflows automatically, behind a resource-aware natural-language query interface</a:t>
            </a:r>
          </a:p>
          <a:p>
            <a:pPr>
              <a:spcAft>
                <a:spcPts val="1200"/>
              </a:spcAft>
              <a:defRPr sz="1700">
                <a:solidFill>
                  <a:srgbClr val="222222"/>
                </a:solidFill>
              </a:defRPr>
            </a:pPr>
            <a:r>
              <a:t>•  The contribution under test is the orchestration engine and its evaluation methodology — not the number of agents, and not the LLM by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A5A5A"/>
                </a:solidFill>
              </a:defRPr>
            </a:pPr>
            <a:r>
              <a:t>MAWOS · Review-1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5A5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9CCDD"/>
                </a:solidFill>
              </a:defRPr>
            </a:pPr>
            <a:r>
              <a:t>METHODOLOGY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Proposed Methodology — Phase-wise Execution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17320"/>
          <a:ext cx="1091153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marL="73152" marR="73152" marT="36576" marB="36576"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 marL="73152" marR="73152" marT="36576" marB="36576"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73152" marR="73152" marT="36576" marB="36576" anchor="ctr">
                    <a:solidFill>
                      <a:srgbClr val="14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P0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Baseline freeze, RQ instrumentation, evaluation protocol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P0.5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Pre-registered router viability gate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P1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Objective-driven scheduler (greedy seed + simulated annealing)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P1b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External ITC-2007 timetabling benchmark harness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Harness done, data pending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P2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Agent-count reduction 10→4 under pre-registered criterion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P4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Confidence-gated hybrid router, threshold frozen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P3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Provenance gate for numeric claims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Next phase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P5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Held-out test-set evaluation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Blocked (external authors)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P6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Multi-model sweep, 1.5B / 3B / 7B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Partial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5778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A5A5A"/>
                </a:solidFill>
              </a:defRPr>
            </a:pPr>
            <a:r>
              <a:t>Each phase is gated by a criterion the evaluation harness can re-check by running code — not a milestone checklist.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A5A5A"/>
                </a:solidFill>
              </a:defRPr>
            </a:pPr>
            <a:r>
              <a:t>MAWOS · Review-1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5A5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9CCDD"/>
                </a:solidFill>
              </a:defRPr>
            </a:pPr>
            <a:r>
              <a:t>ARCHITECTURE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 — Block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•  Five role-scoped portals (student, faculty, HOD, principal, admin) behind a JWT-guarded FastAPI gateway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•  Orchestrator Agent: a confidence-gated router — keyword lexicon as the primary tier, LLM escalation as the secondary tier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•  Role-filtered registry of 12 typed tools — permissions enforced in code, not the prompt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•  Coordination over an instrumented event bus: workflow IDs, per-hop latency, fault isolation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•  Shared institutional context store — SQLite (dev) or PostgreSQL (prod), no code change to switch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89320" y="1325880"/>
            <a:ext cx="5577840" cy="4480560"/>
          </a:xfrm>
          <a:prstGeom prst="rect">
            <a:avLst/>
          </a:prstGeom>
          <a:solidFill>
            <a:srgbClr val="F3F6F8"/>
          </a:solidFill>
          <a:ln w="12700">
            <a:solidFill>
              <a:srgbClr val="C7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5A5A5A"/>
                </a:solidFill>
              </a:defRPr>
            </a:pPr>
            <a:r>
              <a:t>[ Insert generated figure here ]</a:t>
            </a:r>
          </a:p>
          <a:p>
            <a:pPr algn="ctr">
              <a:defRPr sz="1250" i="1">
                <a:solidFill>
                  <a:srgbClr val="5A5A5A"/>
                </a:solidFill>
              </a:defRPr>
            </a:pPr>
            <a:r>
              <a:t>Figure 1 — System architecture block diagram</a:t>
            </a:r>
            <a:br/>
            <a:r>
              <a:t>(see image-generation prompt document)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A5A5A"/>
                </a:solidFill>
              </a:defRPr>
            </a:pPr>
            <a:r>
              <a:t>MAWOS · Review-1 · see image-generation prompts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5A5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9CCDD"/>
                </a:solidFill>
              </a:defRPr>
            </a:pPr>
            <a:r>
              <a:t>SUBMODULES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Core Agents &amp; Event-Driven Coordination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5943600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Agent</a:t>
                      </a:r>
                    </a:p>
                  </a:txBody>
                  <a:tcPr marL="73152" marR="73152" marT="36576" marB="36576"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Owns (state / policy)</a:t>
                      </a:r>
                    </a:p>
                  </a:txBody>
                  <a:tcPr marL="73152" marR="73152" marT="36576" marB="36576"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Reacts to</a:t>
                      </a:r>
                    </a:p>
                  </a:txBody>
                  <a:tcPr marL="73152" marR="73152" marT="36576" marB="36576" anchor="ctr">
                    <a:solidFill>
                      <a:srgbClr val="14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</a:rPr>
                        <a:t>Orchestrator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Routing policy, τ, tool filter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Every incoming query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</a:rPr>
                        <a:t>Attendance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Attendance records + recompute invariant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attendance.uploaded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</a:rPr>
                        <a:t>Eligibility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Hall-ticket &amp; scholarship state (merged at P2)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attendance / fee updates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</a:rPr>
                        <a:t>Scheduling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The timetable solution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Faculty availability changes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429000"/>
            <a:ext cx="5943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Academic, Admission, Finance and Placement remain in the registry as tool-backed components; Notification is a bus subscriber — all real, all invoked by tools.py and the REST routes, but none owns policy that outlives a request, or none acts without direct invocation, so none meets the two-condition agent criterion (Slide 6).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371600"/>
            <a:ext cx="4709160" cy="4434840"/>
          </a:xfrm>
          <a:prstGeom prst="rect">
            <a:avLst/>
          </a:prstGeom>
          <a:solidFill>
            <a:srgbClr val="F3F6F8"/>
          </a:solidFill>
          <a:ln w="12700">
            <a:solidFill>
              <a:srgbClr val="C7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5A5A5A"/>
                </a:solidFill>
              </a:defRPr>
            </a:pPr>
            <a:r>
              <a:t>[ Insert generated figure here ]</a:t>
            </a:r>
          </a:p>
          <a:p>
            <a:pPr algn="ctr">
              <a:defRPr sz="1250" i="1">
                <a:solidFill>
                  <a:srgbClr val="5A5A5A"/>
                </a:solidFill>
              </a:defRPr>
            </a:pPr>
            <a:r>
              <a:t>Figure 2 — Event-driven cascade</a:t>
            </a:r>
            <a:br/>
            <a:r>
              <a:t>(attendance upload → downstream agents)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A5A5A"/>
                </a:solidFill>
              </a:defRPr>
            </a:pPr>
            <a:r>
              <a:t>MAWOS · Review-1 · see image-generation prompts document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5A5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9CCDD"/>
                </a:solidFill>
              </a:defRPr>
            </a:pPr>
            <a:r>
              <a:t>METHODOLOGY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Mathematical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40680" cy="4480560"/>
          </a:xfrm>
          <a:prstGeom prst="rect">
            <a:avLst/>
          </a:prstGeom>
          <a:solidFill>
            <a:srgbClr val="FFFFFF"/>
          </a:solidFill>
          <a:ln w="15875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spcAft>
                <a:spcPts val="1200"/>
              </a:spcAft>
              <a:defRPr sz="1700" b="1">
                <a:solidFill>
                  <a:srgbClr val="142A4A"/>
                </a:solidFill>
              </a:defRPr>
            </a:pPr>
            <a:r>
              <a:t>A — Confidence-Gated Routing</a:t>
            </a:r>
          </a:p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r>
              <a:t>margin(q) = score₁(q) − score₂(q)</a:t>
            </a:r>
          </a:p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r>
              <a:t>(top-1 minus top-2 lexicon intent score)</a:t>
            </a:r>
          </a:p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r>
              <a:t>Escalate to LLM  ⇔  margin(q) ≤ τ</a:t>
            </a:r>
          </a:p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r>
              <a:t>else the lexicon answers directly</a:t>
            </a:r>
          </a:p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r>
              <a:t>τ = 0, frozen — pre-registered on dev data,</a:t>
            </a:r>
          </a:p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r>
              <a:t>sha256-hashed config (router_config.json)</a:t>
            </a:r>
          </a:p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r>
              <a:t>E[latency] = p_escalate · latency_LLM + latency_lexicon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1371600"/>
            <a:ext cx="5440680" cy="4480560"/>
          </a:xfrm>
          <a:prstGeom prst="rect">
            <a:avLst/>
          </a:prstGeom>
          <a:solidFill>
            <a:srgbClr val="FFFFFF"/>
          </a:solidFill>
          <a:ln w="15875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spcAft>
                <a:spcPts val="1200"/>
              </a:spcAft>
              <a:defRPr sz="1700" b="1">
                <a:solidFill>
                  <a:srgbClr val="142A4A"/>
                </a:solidFill>
              </a:defRPr>
            </a:pPr>
            <a:r>
              <a:t>B — Objective-Driven Scheduling</a:t>
            </a:r>
          </a:p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r>
              <a:t>Cost = w₁·IdleGaps + w₂·LateStarts + w₃·σ(Load)</a:t>
            </a:r>
          </a:p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r>
              <a:t>      + w₄·SubjectRepeats + w₅·FacultyGaps</a:t>
            </a:r>
          </a:p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r>
              <a:t>Simulated annealing — Metropolis acceptance:</a:t>
            </a:r>
          </a:p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r>
              <a:t>accept if ΔCost ≤ 0,</a:t>
            </a:r>
          </a:p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r>
              <a:t>else with probability exp(−ΔCost / T)</a:t>
            </a:r>
          </a:p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r>
              <a:t>Geometric cooling:</a:t>
            </a:r>
          </a:p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r>
              <a:t>Tₖ₊₁ = Tₖ · (T_end / T_start)^(1/iters)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A5A5A"/>
                </a:solidFill>
              </a:defRPr>
            </a:pPr>
            <a:r>
              <a:t>MAWOS · Review-1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5A5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9CCDD"/>
                </a:solidFill>
              </a:defRPr>
            </a:pPr>
            <a:r>
              <a:t>DATASET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Dataset &amp; Benchmark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22222"/>
                </a:solidFill>
              </a:defRPr>
            </a:pPr>
            <a:r>
              <a:t>•  Synthetic institution (seeded): 5 depts × 4 years × 2 sections = 1,200 students, 75 faculty, 100 subjects, 180,000 attendance records, 400 admission applicants</a:t>
            </a:r>
          </a:p>
          <a:p>
            <a:pPr>
              <a:spcAft>
                <a:spcPts val="1200"/>
              </a:spcAft>
              <a:defRPr sz="1700">
                <a:solidFill>
                  <a:srgbClr val="222222"/>
                </a:solidFill>
              </a:defRPr>
            </a:pPr>
            <a:r>
              <a:t>•  ML training data is grounded in a real dataset: UCI “Student Performance” (Cortez &amp; Silva, 2008), n = 1,044 — features mapped to CGPA / attendance / backlog counts</a:t>
            </a:r>
          </a:p>
          <a:p>
            <a:pPr>
              <a:spcAft>
                <a:spcPts val="1200"/>
              </a:spcAft>
              <a:defRPr sz="1700">
                <a:solidFill>
                  <a:srgbClr val="222222"/>
                </a:solidFill>
              </a:defRPr>
            </a:pPr>
            <a:r>
              <a:t>•  Gaussian-copula generation preserves the real correlation structure (e.g. CGPA↔attendance +0.22) instead of sampling features independently; 3% label noise on scholarship labels</a:t>
            </a:r>
          </a:p>
          <a:p>
            <a:pPr>
              <a:spcAft>
                <a:spcPts val="1200"/>
              </a:spcAft>
              <a:defRPr sz="1700">
                <a:solidFill>
                  <a:srgbClr val="222222"/>
                </a:solidFill>
              </a:defRPr>
            </a:pPr>
            <a:r>
              <a:t>•  Routing benchmark: 99 labelled dev queries across 11 intents / 12 tools — team-authored (acknowledged limitation); an external held-out test set is planned (Phase P5)</a:t>
            </a:r>
          </a:p>
          <a:p>
            <a:pPr>
              <a:spcAft>
                <a:spcPts val="1200"/>
              </a:spcAft>
              <a:defRPr sz="1700">
                <a:solidFill>
                  <a:srgbClr val="222222"/>
                </a:solidFill>
              </a:defRPr>
            </a:pPr>
            <a:r>
              <a:t>•  Scheduler benchmark: the seeded institution instance, plus the external ITC-2007 curriculum-based timetabling standard (cost model differentially validated against the official C++ scorer on 1,900 instance/solution pairs)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A5A5A"/>
                </a:solidFill>
              </a:defRPr>
            </a:pPr>
            <a:r>
              <a:t>MAWOS · Review-1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5A5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9CCDD"/>
                </a:solidFill>
              </a:defRPr>
            </a:pPr>
            <a:r>
              <a:t>IMPLEMENTATION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Implementation Details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17320"/>
          <a:ext cx="10911534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7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4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73152" marR="73152" marT="36576" marB="36576"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Implementation</a:t>
                      </a:r>
                    </a:p>
                  </a:txBody>
                  <a:tcPr marL="73152" marR="73152" marT="36576" marB="36576" anchor="ctr">
                    <a:solidFill>
                      <a:srgbClr val="14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Backend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Python 3.12, FastAPI, SQLAlchemy 2.0 ORM, JWT auth, 5 role-guarded REST surfaces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Orchestration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In-process instrumented pub/sub event bus; workflow-ID tracing; per-subscriber fault isolation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Routing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Weighted-keyword lexicon (primary tier) + Ollama LLM tool-calling loop (escalation tier)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Machine learning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scikit-learn CART (scholarship) &amp; Random Forest (placement) on calibrated synthetic data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Scheduler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Custom greedy-seed + simulated-annealing solver; bitmask representation for O(1) feasibility checks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Frontend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5 static role portals (vanilla JS/HTML/CSS), no build step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Testing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44 pytest tests; sha256-hashed frozen evaluation instrument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A5A5A"/>
                </a:solidFill>
              </a:defRPr>
            </a:pPr>
            <a:r>
              <a:t>MAWOS · Review-1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5A5A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9CCDD"/>
                </a:solidFill>
              </a:defRPr>
            </a:pPr>
            <a:r>
              <a:t>TOOLS &amp; DEPLOYMENT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Modern Tools, Frameworks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22222"/>
                </a:solidFill>
              </a:defRPr>
            </a:pPr>
            <a:r>
              <a:t>•  Local LLM runtime: Ollama serving the Qwen2.5-Instruct family (1.5B / 3B / 7B) — fully on-device inference, no cloud API, no student data leaves the machine</a:t>
            </a:r>
          </a:p>
          <a:p>
            <a:pPr>
              <a:spcAft>
                <a:spcPts val="1200"/>
              </a:spcAft>
              <a:defRPr sz="1700">
                <a:solidFill>
                  <a:srgbClr val="222222"/>
                </a:solidFill>
              </a:defRPr>
            </a:pPr>
            <a:r>
              <a:t>•  Core frameworks: FastAPI + Uvicorn (ASGI), SQLAlchemy, Pydantic, scikit-learn, pytest, matplotlib</a:t>
            </a:r>
          </a:p>
          <a:p>
            <a:pPr>
              <a:spcAft>
                <a:spcPts val="1200"/>
              </a:spcAft>
              <a:defRPr sz="1700">
                <a:solidFill>
                  <a:srgbClr val="222222"/>
                </a:solidFill>
              </a:defRPr>
            </a:pPr>
            <a:r>
              <a:t>•  Deployment model: single-process application (python run.py); SQLite by default, PostgreSQL swap-in via one environment variable — containerized/cloud deployment is out of scope for this research prototype</a:t>
            </a:r>
          </a:p>
          <a:p>
            <a:pPr>
              <a:spcAft>
                <a:spcPts val="1200"/>
              </a:spcAft>
              <a:defRPr sz="1700">
                <a:solidFill>
                  <a:srgbClr val="222222"/>
                </a:solidFill>
              </a:defRPr>
            </a:pPr>
            <a:r>
              <a:t>•  Research-engineering discipline applied to a B.E. project: a pre-registered evaluation protocol, sha256-hashed frozen configuration, and one-command reproducible evaluation and figure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A5A5A"/>
                </a:solidFill>
              </a:defRPr>
            </a:pPr>
            <a:r>
              <a:t>MAWOS · Review-1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5A5A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9CCDD"/>
                </a:solidFill>
              </a:defRPr>
            </a:pPr>
            <a:r>
              <a:t>CURRENT STATUS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Current Validated Results (dev-set)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17320"/>
          <a:ext cx="10911534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4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7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73152" marR="73152" marT="36576" marB="36576"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L="73152" marR="73152" marT="36576" marB="36576" anchor="ctr">
                    <a:solidFill>
                      <a:srgbClr val="14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Intent routing — lexicon (primary tier)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88.9%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Intent routing — LLM tier alone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83.5% ± 0.5%  (loses to the lexicon)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Intent routing — confidence-gated hybrid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94.6%  (+5.7 pts; CI excludes 0; p = 0.070, not yet significant)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Scheduler objective (lower is better)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v2 greedy 2,441 → SA 204  (instance floor ≈ 196)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Agent count / tool surface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10 → 4 agents (pre-registered criterion); 13 → 12 tools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95604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A5A5A"/>
                </a:solidFill>
              </a:defRPr>
            </a:pPr>
            <a:r>
              <a:t>All numbers are regenerable from evaluation/ on a 99-task dev benchmark; nothing here is headlined as 100%. Held-out confirmation (Phase P5) is still pending — see Known Limitations.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A5A5A"/>
                </a:solidFill>
              </a:defRPr>
            </a:pPr>
            <a:r>
              <a:t>MAWOS · Review-1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5A5A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9CCDD"/>
                </a:solidFill>
              </a:defRPr>
            </a:pPr>
            <a:r>
              <a:t>CONTRIBUTION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Individual &amp; Team Contribution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1153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6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Team member (USN)</a:t>
                      </a:r>
                    </a:p>
                  </a:txBody>
                  <a:tcPr marL="73152" marR="73152" marT="36576" marB="36576"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Primary workstream</a:t>
                      </a:r>
                    </a:p>
                  </a:txBody>
                  <a:tcPr marL="73152" marR="73152" marT="36576" marB="36576" anchor="ctr">
                    <a:solidFill>
                      <a:srgbClr val="14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4MT23AI037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[ to be confirmed by team 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4MT23AI038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[ to be confirmed by team ]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4MT23AI040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[ to be confirmed by team 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4MT23AI049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[ to be confirmed by team ]</a:t>
                      </a:r>
                    </a:p>
                  </a:txBody>
                  <a:tcPr marL="73152" marR="73152" marT="36576" marB="36576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79476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A4A"/>
                </a:solidFill>
              </a:defRPr>
            </a:pPr>
            <a:r>
              <a:t>Suggested workstream split, by actual technical boundary in the codebase — map onto the table above: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 Backend orchestration, event bus &amp; agent design (P2 agent reduction)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 Routing evaluation protocol — capture, threshold tuning &amp; statistics (P0.5, P4, P6)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 Scheduler design &amp; simulated annealing, external ITC-2007 benchmark (P1, P1b)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 ML pipeline (dataset calibration, CART/RF), frontend portals, documentation &amp; testing</a:t>
            </a:r>
          </a:p>
          <a:p>
            <a:pPr>
              <a:spcBef>
                <a:spcPts val="1000"/>
              </a:spcBef>
              <a:defRPr sz="1200" i="1">
                <a:solidFill>
                  <a:srgbClr val="5A5A5A"/>
                </a:solidFill>
              </a:defRPr>
            </a:pPr>
            <a:r>
              <a:t>Note: version-control history is on a single shared account — the team should confirm the actual per-member split before submission.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A5A5A"/>
                </a:solidFill>
              </a:defRPr>
            </a:pPr>
            <a:r>
              <a:t>MAWOS · Review-1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5A5A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1419</Words>
  <Application>Microsoft Office PowerPoint</Application>
  <PresentationFormat>Widescreen</PresentationFormat>
  <Paragraphs>181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samprith c amin</cp:lastModifiedBy>
  <cp:revision>2</cp:revision>
  <dcterms:created xsi:type="dcterms:W3CDTF">2013-01-27T09:14:16Z</dcterms:created>
  <dcterms:modified xsi:type="dcterms:W3CDTF">2026-08-21T16:19:32Z</dcterms:modified>
  <cp:category/>
</cp:coreProperties>
</file>